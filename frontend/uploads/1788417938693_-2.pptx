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各位老师好，我是XXX。今天我将向各位汇报我的课程设计项目——《基于Flask的学生–老师双端作业管理系统》。这是一个旨在解决传统作业管理痛点的Web应用，接下来我将详细介绍其设计与实现。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围绕八个核心部分展开。首先，我会介绍项目的背景与意义；接着，阐述技术选型的考量；然后，详细展示系统的功能模块和数据库设计；之后，分享项目中的关键技术亮点；并进行系统演示；最后，总结项目难点与解决方案，并对未来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的作业管理方式存在诸多不便，如提交记录混乱、批改结果不透明以及数据统计繁琐。本系统正是为了解决这些问题而设计，通过构建一个完整的线上作业管理流程，实现了提交留痕、批改回显和数据自动统计，大大提升了作业管理的效率和透明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选型上，我选择了一套轻量级且主流的技术栈。后端使用Flask框架，通过Flask-SQLAlchemy实现ORM数据库交互，Flask-Login负责用户认证。前端采用Bootstrap5结合Jinja2模板引擎。数据库选用零配置的SQLite，图表展示则使用ECharts。这套技术栈确保了项目的易开发性、可维护性和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功能模块围绕学生和老师两个角色展开。学生端主要实现作业的浏览、提交、收藏和查看批改结果。老师端则负责发布作业、在线批改以及查看数据统计。所有功能都进行了严格的权限隔离，确保不同角色只能访问其权限范围内的功能，保证了系统的安全性和逻辑正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库设计是系统的核心。我设计了四张表：用户表、作业表、提交表和收藏表。通过外键关联，确保了数据的完整性和一致性。特别是在收藏表中使用了联合唯一约束，防止重复收藏。提交表的分数字段设计为可空，巧妙地实现了作业状态的区分。所有表结构均通过ORM定义，实现了数据库的自动迁移和管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有几个关键技术亮点。首先是通过自定义装饰器实现了严格的双角色权限隔离。其次，全程使用ORM进行数据库交互，保证了代码的安全性和可维护性。文件上传功能不仅考虑了安全问题，还实现了图片的内联预览。此外，集成ECharts提供了直观的数据统计，并且为了方便演示，设置了一键登录的测试账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进行系统演示。首先，我会以学生身份登录，演示作业的浏览、提交和收藏功能。然后，切换到老师身份，演示作业发布、在线批改以及查看数据统计的过程。最后，我们会验证学生端能否即时看到老师的批改结果，以展示系统的闭环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发过程中，我遇到了一些挑战。例如，如何防止角色越权，我通过后端装饰器和前端动态渲染相结合的方式解决。对于文件上传的安全问题，我采取了多重防护措施。为了保证统计数据的准确性，我在查询时使用了去重操作。此外，通过自动化脚本，简化了数据库的初始化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本系统成功实现了预期的目标，技术栈轻量，功能完整，代码规范。展望未来，系统还有很大的扩展空间。例如，可以加入班级管理、成绩导出等功能，使其更贴近真实教学场景。同时，在安全和部署方面也可以进一步优化，以适应更复杂的生产环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我的汇报到此结束。感谢各位老师的耐心聆听，恳请各位老师对我的项目提出宝贵的意见和建议。谢谢大家！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jpe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5.jpeg"/><Relationship Id="rId3" Type="http://schemas.openxmlformats.org/officeDocument/2006/relationships/tags" Target="../tags/tag2.xml"/><Relationship Id="rId23" Type="http://schemas.openxmlformats.org/officeDocument/2006/relationships/notesSlide" Target="../notesSlides/notesSlide4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openxmlformats.org/officeDocument/2006/relationships/tags" Target="../tags/tag1.xml"/><Relationship Id="rId19" Type="http://schemas.openxmlformats.org/officeDocument/2006/relationships/image" Target="../media/image18.jpeg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image" Target="../media/image17.jpeg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9.png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svg"/><Relationship Id="rId8" Type="http://schemas.openxmlformats.org/officeDocument/2006/relationships/image" Target="../media/image13.png"/><Relationship Id="rId7" Type="http://schemas.openxmlformats.org/officeDocument/2006/relationships/image" Target="../media/image33.svg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35.svg"/><Relationship Id="rId10" Type="http://schemas.openxmlformats.org/officeDocument/2006/relationships/image" Target="../media/image34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svg"/><Relationship Id="rId8" Type="http://schemas.openxmlformats.org/officeDocument/2006/relationships/image" Target="../media/image47.png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svg"/><Relationship Id="rId8" Type="http://schemas.openxmlformats.org/officeDocument/2006/relationships/image" Target="../media/image55.png"/><Relationship Id="rId7" Type="http://schemas.openxmlformats.org/officeDocument/2006/relationships/image" Target="../media/image54.svg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9" Type="http://schemas.openxmlformats.org/officeDocument/2006/relationships/notesSlide" Target="../notesSlides/notesSlide10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62.svg"/><Relationship Id="rId16" Type="http://schemas.openxmlformats.org/officeDocument/2006/relationships/image" Target="../media/image61.png"/><Relationship Id="rId15" Type="http://schemas.openxmlformats.org/officeDocument/2006/relationships/image" Target="../media/image26.svg"/><Relationship Id="rId14" Type="http://schemas.openxmlformats.org/officeDocument/2006/relationships/image" Target="../media/image25.png"/><Relationship Id="rId13" Type="http://schemas.openxmlformats.org/officeDocument/2006/relationships/image" Target="../media/image60.svg"/><Relationship Id="rId12" Type="http://schemas.openxmlformats.org/officeDocument/2006/relationships/image" Target="../media/image59.png"/><Relationship Id="rId11" Type="http://schemas.openxmlformats.org/officeDocument/2006/relationships/image" Target="../media/image58.svg"/><Relationship Id="rId10" Type="http://schemas.openxmlformats.org/officeDocument/2006/relationships/image" Target="../media/image57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2286000"/>
            <a:ext cx="1143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基于Flask的学生–老师双端作业管理系统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4064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课程设计答辩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95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381000" y="5461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答辩人</a:t>
            </a:r>
            <a:r>
              <a:rPr lang="zh-CN" alt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：韩静怡</a:t>
            </a: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|   2026年9月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9906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1905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项目背景与意义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剖析传统作业管理痛点，提出针对性解决方案与价值</a:t>
            </a:r>
            <a:endParaRPr lang="en-US" sz="13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5207000" cy="9906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3048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8000" y="2984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技术选型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前后端框架搭配、数据库选型及核心第三方库说明</a:t>
            </a:r>
            <a:endParaRPr lang="en-US" sz="13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937000"/>
            <a:ext cx="5207000" cy="9906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52500" y="4127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4064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功能模块总览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全景展示学生端与教师端的核心业务功能架构</a:t>
            </a:r>
            <a:endParaRPr lang="en-US" sz="13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016500"/>
            <a:ext cx="5207000" cy="9906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52500" y="5207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78000" y="5143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数据库设计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核心表结构设计、E-R关系图及数据流向解析</a:t>
            </a:r>
            <a:endParaRPr lang="en-US" sz="13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1778000"/>
            <a:ext cx="5207000" cy="9906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540500" y="1968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66000" y="1905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关键技术亮点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细述权限控制、ORM交互优化、文件上传等技术细节</a:t>
            </a:r>
            <a:endParaRPr lang="en-US" sz="13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2857500"/>
            <a:ext cx="5207000" cy="9906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540500" y="3048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366000" y="2984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系统演示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实时演示核心业务流程，直观呈现系统交互体验</a:t>
            </a:r>
            <a:endParaRPr lang="en-US" sz="13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350000" y="3937000"/>
            <a:ext cx="5207000" cy="9906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540500" y="4127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366000" y="4064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难点与解决方案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复盘开发难点，分享解决思路与技术攻关过程</a:t>
            </a:r>
            <a:endParaRPr lang="en-US" sz="13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50000" y="5016500"/>
            <a:ext cx="5207000" cy="9906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540500" y="5207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366000" y="5143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总结项目成果，展望未来功能扩展与优化方向</a:t>
            </a:r>
            <a:endParaRPr lang="en-US" sz="13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项目背景与意义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传统作业管理的痛点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279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76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476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提交无记录：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依赖社交软件人工统计，提交状态模糊，遗漏难追溯，效率低下。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238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238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批改不透明：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反馈周期长，学生无法即时获知成绩与评价，学习反馈严重滞后。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000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000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统计靠手算：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提交率、分数分布等数据需手动核算，耗时耗力且极易出现统计误差。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184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本系统的解决方案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2279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6EF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2476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21500" y="2476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提交自动留痕：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所有提交记录云端实时同步，提交状态清晰可查，全流程可追溯。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238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3238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批改即时回显：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教师完成批改后，学生端即刻收到分数与评语，实现反馈零延迟。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4000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4000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数据智能统计：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系统自动生成多维度可视化图表，作业情况、成绩分布一目了然。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953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5143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完整覆盖「发布 → 提交 → 批改 → 统计」的作业管理闭环，打破传统管理的信息孤岛，实现作业全流程的数字化、高效化与透明化，为教学管理减负增效。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技术选型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6350000" cy="1270000"/>
          </a:xfrm>
          <a:prstGeom prst="roundRect">
            <a:avLst>
              <a:gd name="adj" fmla="val 1200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33333" r="33333"/>
          <a:stretch>
            <a:fillRect/>
          </a:stretch>
        </p:blipFill>
        <p:spPr>
          <a:xfrm>
            <a:off x="1016000" y="1841500"/>
            <a:ext cx="761365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2032000" y="177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后端核心：Flask 3.0 生态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2032000" y="2222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轻量级微框架，极速上手。集成SQLAlchemy实现ORM数据库交互，Flask-Login提供成熟的用户认证与会话管理。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762000" y="2984500"/>
            <a:ext cx="6350000" cy="1270000"/>
          </a:xfrm>
          <a:prstGeom prst="roundRect">
            <a:avLst>
              <a:gd name="adj" fmla="val 1200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1016000" y="3111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2032000" y="304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前端交互：Bootstrap 5 + Jinja2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2032000" y="3492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原生HTML模板渲染，结合Bootstrap 5实现响应式布局，浏览器直接预览，兼顾美观与开发效率。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762000" y="4318000"/>
            <a:ext cx="6350000" cy="1270000"/>
          </a:xfrm>
          <a:prstGeom prst="roundRect">
            <a:avLst>
              <a:gd name="adj" fmla="val 1200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l="18750" r="18750"/>
          <a:stretch>
            <a:fillRect/>
          </a:stretch>
        </p:blipFill>
        <p:spPr>
          <a:xfrm>
            <a:off x="1016000" y="4381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2032000" y="431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数据层：SQLite 数据库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2032000" y="4762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零配置、单文件存储，开箱即用，极大降低开发环境搭建成本，可无缝切换至MySQL等生产级数据库。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762000" y="5524500"/>
            <a:ext cx="6350000" cy="1270000"/>
          </a:xfrm>
          <a:prstGeom prst="roundRect">
            <a:avLst>
              <a:gd name="adj" fmla="val 1200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rcRect l="12500" r="12500"/>
          <a:stretch>
            <a:fillRect/>
          </a:stretch>
        </p:blipFill>
        <p:spPr>
          <a:xfrm>
            <a:off x="1016000" y="5651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2032000" y="558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数据可视化：Apache ECharts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2032000" y="6032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开源强大的可视化库，支持多种图表类型，直观呈现业务统计数据，提升数据洞察能力与用户体验。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0" y="1778000"/>
            <a:ext cx="3810000" cy="482600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874000" y="2032000"/>
            <a:ext cx="3302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坚持“轻量、易用、规范”的原则，选用主流且易于理解的技术栈，将开发重心聚焦于业务逻辑实现与工程规范建设，兼顾开发效率与系统的可维护性。</a:t>
            </a:r>
            <a:endParaRPr lang="en-US" sz="16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功能模块总览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系统按角色分为两端，共实现 </a:t>
            </a: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6大核心功能</a:t>
            </a: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，通过精细化的权限设计与严格的隔离机制，确保不同角色的操作边界清晰，保障系统的安全性与业务逻辑的严谨性。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70500" cy="336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67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641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公共 / 学生端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3168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02000"/>
            <a:ext cx="47625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❖ 登录注册：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支持账号注册与密码加密存储，提供角色身份选择入口。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❖ 作业管理：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首页智能检索作业，支持收藏与在线提交，可覆盖重传。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❖ 记录查询：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追溯个人提交历史，实时查看老师批改的分数与详细评语。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159500" y="2413000"/>
            <a:ext cx="5270500" cy="336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2667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858000" y="2641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老师端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167">
            <a:off x="6413508" y="3168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13500" y="3302000"/>
            <a:ext cx="47625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❖ 作业发布：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自定义作业标题、描述与截止时间，灵活配置作业要求。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❖ 批改统计：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在线打分并撰写评语，通过可视化图表分析提交率与成绩分布。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❖ 权限管控：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基于角色的动态导航与操作隔离，确保师生功能边界清晰。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969000"/>
            <a:ext cx="106680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89000" y="5969000"/>
            <a:ext cx="10414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构建“提交-批改-反馈”的完整闭环，通过权限隔离保障系统安全，提升教学管理效率与学习体验。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数据库设计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8260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系统采用ORM框架自动管理表结构，首次运行即可自动建表，无需手写SQL脚本，极大提升了开发效率与维护性。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207000" y="1651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核心表结构体系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207000" y="2222500"/>
            <a:ext cx="31115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334000" y="2349500"/>
            <a:ext cx="285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用户表 (user)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存储账号、哈希密码、真实姓名及角色信息，是系统身份认证与权限控制的基石。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445500" y="2222500"/>
            <a:ext cx="31115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572500" y="2349500"/>
            <a:ext cx="285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作业表 (homework)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记录作业发布详情，关联发布教师ID，包含作业内容、截止时间及附件资源信息。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207000" y="3556000"/>
            <a:ext cx="31115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334000" y="3683000"/>
            <a:ext cx="285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提交表 (submit)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关联学生与作业，记录提交时间、作业附件、教师评分及评语，全流程追踪作业状态。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445500" y="3556000"/>
            <a:ext cx="31115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572500" y="3683000"/>
            <a:ext cx="285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收藏表 (collect)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建立用户与作业的收藏关系，支持用户快速检索与回顾优质作业，提升学习体验。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6875">
            <a:off x="5207006" y="48831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5207000" y="5080000"/>
            <a:ext cx="203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7000" y="5143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562600" y="5143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外键关联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207000" y="55245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严谨的表间引用，确保数据完整性，杜绝数据孤岛，构建稳固的关系网。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302500" y="5080000"/>
            <a:ext cx="203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2500" y="5143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658100" y="5143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联合约束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302500" y="55245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用户ID与作业ID联合唯一，防止重复收藏，保障数据的唯一性与准确性。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398000" y="5080000"/>
            <a:ext cx="203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8000" y="5143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753600" y="5143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状态隐式表达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398000" y="55245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利用分数字段空值特性，天然区分“未批改”与“已批改”状态，简化业务逻辑。</a:t>
            </a:r>
            <a:endParaRPr lang="en-US" sz="1100"/>
          </a:p>
        </p:txBody>
      </p:sp>
      <p:sp>
        <p:nvSpPr>
          <p:cNvPr id="29" name="矩形 28"/>
          <p:cNvSpPr/>
          <p:nvPr/>
        </p:nvSpPr>
        <p:spPr>
          <a:xfrm>
            <a:off x="687705" y="1619885"/>
            <a:ext cx="4465320" cy="2982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 descr="exported_image (1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260" y="1651000"/>
            <a:ext cx="4474845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关键技术亮点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68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9304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双角色权限隔离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自定义装饰器实现严格的角色访问控制，前端导航栏动态渲染，从源头杜绝越权操作，保障系统数据安全。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778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1968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953000" y="19304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全ORM数据交互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2413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基于SQLAlchemy ORM封装数据层，彻底摒弃原生SQL，有效防止注入攻击，提升代码的可维护性与跨平台移植性。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778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1968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572500" y="19304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安全上传与预览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91500" y="2413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多重防护机制：限制文件大小、扩展名白名单校验及防目录穿越；支持图片内联预览与文档一键下载，兼顾安全与体验。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254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33500" y="4216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ECharts 动态数据可视化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762500"/>
            <a:ext cx="488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集成ECharts构建多维度数据看板，实时渲染作业提交率饼图、成绩分布柱状图，数据趋势一目了然，助力教师快速掌握班级学情，辅助教学决策。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159500" y="4064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4254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31000" y="4216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便捷测试与演示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4762500"/>
            <a:ext cx="488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内置学生与教师双角色测试账号，评委可一键快速登录系统，无需繁琐注册流程，即刻体验核心功能与权限差异，大幅提升演示效率与流畅度。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系统演示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937" r="937"/>
          <a:stretch>
            <a:fillRect/>
          </a:stretch>
        </p:blipFill>
        <p:spPr>
          <a:xfrm>
            <a:off x="762000" y="1905000"/>
            <a:ext cx="3302000" cy="3302000"/>
          </a:xfrm>
          <a:prstGeom prst="roundRect">
            <a:avLst>
              <a:gd name="adj" fmla="val 461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572000" y="1778000"/>
            <a:ext cx="685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5334000" y="1879600"/>
            <a:ext cx="596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学生端操作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登录账号 student01，浏览作业列表并使用搜索功能快速定位；选择指定作业上传文件提交，同时支持一键收藏感兴趣的优质作业，体验流畅的交互流程。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72000" y="3111500"/>
            <a:ext cx="685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0" y="330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3213100"/>
            <a:ext cx="596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老师端操作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登录账号 teacher01，发布新作业并配置详细要求；进入作业详情页查看基于ECharts的数据统计图表，直观掌握提交情况；对学生作业进行在线打分并添加针对性评语。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572000" y="4445000"/>
            <a:ext cx="685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62500" y="4635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334000" y="4546600"/>
            <a:ext cx="596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效果闭环验证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切换回学生端并刷新页面，实时查看老师的批改结果与评分，验证系统数据同步的即时性与准确性，确保教学反馈链路的高效闭环。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7785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57785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演示访问地址：http://127.0.0.1:5000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难点与解决方案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89000" y="1905000"/>
            <a:ext cx="5080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159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1590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角色权限双重保障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2794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权限边界模糊，易出现越权访问风险。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后端通过装饰器拦截未授权请求，前端根据角色动态渲染导航菜单，构建前后端双重安全防线。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905000"/>
            <a:ext cx="5080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159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21590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文件上传安全防护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794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恶意文件上传及命名冲突问题。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实施扩展名白名单、文件大小限制及安全重命名三重防护；重复提交自动覆盖旧文件，避免存储冗余。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89000" y="4445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3000" y="4635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46355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数据统计精准去重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143000" y="5207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重复提交导致统计人数虚高。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查询时使用 `DISTINCT student_id` 进行去重，确保统计结果真实反映实际参与人数，杜绝数据偏差。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445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635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46355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自动化环境初始化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5207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手动建表与数据配置繁琐。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程序启动时自动执行 `db.create_all()` 创建表结构，并自动注入测试账号，实现零手动操作的快速部署。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CBD5E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项目总结回顾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921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8956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核心业务闭环落地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基于轻量级技术栈，完整实现作业发布、提交、批改与反馈全流程，构建了流畅的教学管理闭环。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873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8481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规范高效的交付质量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代码结构清晰规范，注释详尽，支持环境一键配置与快速运行，便于后续的演示、部署与维护迭代。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826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8006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达成课程设计预期目标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系统功能完备，界面交互友好，完全满足课程设计的各项指标要求，实现了功能性与用户体验的平衡。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CBD5E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未来发展规划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477000" y="27940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核心功能场景深化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3238500"/>
            <a:ext cx="1587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3365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604000" y="3594100"/>
            <a:ext cx="146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多维管理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新增班级选课维度，精准统计未交人数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53400" y="3238500"/>
            <a:ext cx="1587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80400" y="33655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286750" y="3594100"/>
            <a:ext cx="146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数据导出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支持CSV成绩导出，便捷管理学业数据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842500" y="3238500"/>
            <a:ext cx="1587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69500" y="33655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969500" y="3619500"/>
            <a:ext cx="146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开放集成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提供REST API，实现跨系统互联互通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44450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架构与安全升级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4889500"/>
            <a:ext cx="2286000" cy="104902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04000" y="5016500"/>
            <a:ext cx="254000" cy="254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604000" y="5270500"/>
            <a:ext cx="196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安全加固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引入Flask-WTF防范CSRF，提升安全性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890000" y="4889500"/>
            <a:ext cx="2286000" cy="104775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17000" y="5016500"/>
            <a:ext cx="254000" cy="254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017000" y="5270500"/>
            <a:ext cx="196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生产部署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Gunicorn+Nginx组合，保障高并发稳定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4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2400" b="0" i="0" u="none" strike="noStrike" spc="200">
              <a:solidFill>
                <a:schemeClr val="tx1">
                  <a:alpha val="85098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572000" y="5524500"/>
            <a:ext cx="3048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cap="flat" cmpd="sng">
            <a:solidFill>
              <a:srgbClr val="0CAC47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05,&quot;left&quot;:60,&quot;top&quot;:130,&quot;width&quot;:500}"/>
</p:tagLst>
</file>

<file path=ppt/tags/tag2.xml><?xml version="1.0" encoding="utf-8"?>
<p:tagLst xmlns:p="http://schemas.openxmlformats.org/presentationml/2006/main">
  <p:tag name="KSO_WM_DIAGRAM_VIRTUALLY_FRAME" val="{&quot;height&quot;:405,&quot;left&quot;:60,&quot;top&quot;:130,&quot;width&quot;:500}"/>
</p:tagLst>
</file>

<file path=ppt/tags/tag3.xml><?xml version="1.0" encoding="utf-8"?>
<p:tagLst xmlns:p="http://schemas.openxmlformats.org/presentationml/2006/main">
  <p:tag name="KSO_WM_DIAGRAM_VIRTUALLY_FRAME" val="{&quot;height&quot;:405,&quot;left&quot;:60,&quot;top&quot;:130,&quot;width&quot;:500}"/>
</p:tagLst>
</file>

<file path=ppt/tags/tag4.xml><?xml version="1.0" encoding="utf-8"?>
<p:tagLst xmlns:p="http://schemas.openxmlformats.org/presentationml/2006/main">
  <p:tag name="KSO_WM_DIAGRAM_VIRTUALLY_FRAME" val="{&quot;height&quot;:405,&quot;left&quot;:60,&quot;top&quot;:130,&quot;width&quot;:500}"/>
</p:tagLst>
</file>

<file path=ppt/tags/tag5.xml><?xml version="1.0" encoding="utf-8"?>
<p:tagLst xmlns:p="http://schemas.openxmlformats.org/presentationml/2006/main">
  <p:tag name="KSO_WM_DIAGRAM_VIRTUALLY_FRAME" val="{&quot;height&quot;:405,&quot;left&quot;:60,&quot;top&quot;:130,&quot;width&quot;:500}"/>
</p:tagLst>
</file>

<file path=ppt/tags/tag6.xml><?xml version="1.0" encoding="utf-8"?>
<p:tagLst xmlns:p="http://schemas.openxmlformats.org/presentationml/2006/main">
  <p:tag name="KSO_WM_DIAGRAM_VIRTUALLY_FRAME" val="{&quot;height&quot;:405,&quot;left&quot;:60,&quot;top&quot;:130,&quot;width&quot;:500}"/>
</p:tagLst>
</file>

<file path=ppt/tags/tag7.xml><?xml version="1.0" encoding="utf-8"?>
<p:tagLst xmlns:p="http://schemas.openxmlformats.org/presentationml/2006/main">
  <p:tag name="KSO_WM_DIAGRAM_VIRTUALLY_FRAME" val="{&quot;height&quot;:405,&quot;left&quot;:60,&quot;top&quot;:130,&quot;width&quot;:500}"/>
</p:tagLst>
</file>

<file path=ppt/tags/tag8.xml><?xml version="1.0" encoding="utf-8"?>
<p:tagLst xmlns:p="http://schemas.openxmlformats.org/presentationml/2006/main">
  <p:tag name="KSO_WM_DIAGRAM_VIRTUALLY_FRAME" val="{&quot;height&quot;:405,&quot;left&quot;:60,&quot;top&quot;:130,&quot;width&quot;:500}"/>
</p:tagLst>
</file>

<file path=ppt/tags/tag9.xml><?xml version="1.0" encoding="utf-8"?>
<p:tagLst xmlns:p="http://schemas.openxmlformats.org/presentationml/2006/main">
  <p:tag name="KSO_WM_DIAGRAM_VIRTUALLY_FRAME" val="{&quot;height&quot;:405,&quot;left&quot;:60,&quot;top&quot;:130,&quot;width&quot;:500}"/>
</p:tagLst>
</file>

<file path=ppt/tags/tag10.xml><?xml version="1.0" encoding="utf-8"?>
<p:tagLst xmlns:p="http://schemas.openxmlformats.org/presentationml/2006/main">
  <p:tag name="KSO_WM_DIAGRAM_VIRTUALLY_FRAME" val="{&quot;height&quot;:405,&quot;left&quot;:60,&quot;top&quot;:130,&quot;width&quot;:500}"/>
</p:tagLst>
</file>

<file path=ppt/tags/tag11.xml><?xml version="1.0" encoding="utf-8"?>
<p:tagLst xmlns:p="http://schemas.openxmlformats.org/presentationml/2006/main">
  <p:tag name="KSO_WM_DIAGRAM_VIRTUALLY_FRAME" val="{&quot;height&quot;:405,&quot;left&quot;:60,&quot;top&quot;:130,&quot;width&quot;:500}"/>
</p:tagLst>
</file>

<file path=ppt/tags/tag12.xml><?xml version="1.0" encoding="utf-8"?>
<p:tagLst xmlns:p="http://schemas.openxmlformats.org/presentationml/2006/main">
  <p:tag name="KSO_WM_DIAGRAM_VIRTUALLY_FRAME" val="{&quot;height&quot;:405,&quot;left&quot;:60,&quot;top&quot;:130,&quot;width&quot;:500}"/>
</p:tagLst>
</file>

<file path=ppt/tags/tag13.xml><?xml version="1.0" encoding="utf-8"?>
<p:tagLst xmlns:p="http://schemas.openxmlformats.org/presentationml/2006/main">
  <p:tag name="KSO_WM_DIAGRAM_VIRTUALLY_FRAME" val="{&quot;height&quot;:405,&quot;left&quot;:60,&quot;top&quot;:130,&quot;width&quot;:500}"/>
</p:tagLst>
</file>

<file path=ppt/tags/tag14.xml><?xml version="1.0" encoding="utf-8"?>
<p:tagLst xmlns:p="http://schemas.openxmlformats.org/presentationml/2006/main">
  <p:tag name="KSO_WM_DIAGRAM_VIRTUALLY_FRAME" val="{&quot;height&quot;:405,&quot;left&quot;:60,&quot;top&quot;:130,&quot;width&quot;:500}"/>
</p:tagLst>
</file>

<file path=ppt/tags/tag15.xml><?xml version="1.0" encoding="utf-8"?>
<p:tagLst xmlns:p="http://schemas.openxmlformats.org/presentationml/2006/main">
  <p:tag name="KSO_WM_DIAGRAM_VIRTUALLY_FRAME" val="{&quot;height&quot;:405,&quot;left&quot;:60,&quot;top&quot;:130,&quot;width&quot;:500}"/>
</p:tagLst>
</file>

<file path=ppt/tags/tag16.xml><?xml version="1.0" encoding="utf-8"?>
<p:tagLst xmlns:p="http://schemas.openxmlformats.org/presentationml/2006/main">
  <p:tag name="KSO_WM_DIAGRAM_VIRTUALLY_FRAME" val="{&quot;height&quot;:405,&quot;left&quot;:60,&quot;top&quot;:130,&quot;width&quot;:50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3003</Words>
  <Application>WPS 演示</Application>
  <PresentationFormat/>
  <Paragraphs>218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WPS_1775042006</cp:lastModifiedBy>
  <cp:revision>4</cp:revision>
  <dcterms:created xsi:type="dcterms:W3CDTF">2026-09-02T07:38:00Z</dcterms:created>
  <dcterms:modified xsi:type="dcterms:W3CDTF">2026-09-03T06:28:20Z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{"Label":"1","ContentProducer":"001191110102MACQD9K64010000","ProduceID":"7680838447222246383","ReservedCode1":"","ContentPropagator":"","PropagateID":"","ReservedCode2":""}</vt:lpwstr>
  </property>
  <property fmtid="{D5CDD505-2E9C-101B-9397-08002B2CF9AE}" pid="3" name="ICV">
    <vt:lpwstr>16EAFB22C6554E3494A486759BF75CA9_13</vt:lpwstr>
  </property>
  <property fmtid="{D5CDD505-2E9C-101B-9397-08002B2CF9AE}" pid="4" name="KSOProductBuildVer">
    <vt:lpwstr>2052-12.1.0.24034</vt:lpwstr>
  </property>
</Properties>
</file>